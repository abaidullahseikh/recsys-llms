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9144000" cy="51435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mBLTMc9os2bkXksESs9meUu6E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41a0ceb1489f2d7d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41a0ceb1489f2d7d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1a0ceb1489f2d7d_0_7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1a0ceb1489f2d7d_0_7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41a0ceb1489f2d7d_0_8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41a0ceb1489f2d7d_0_8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41a0ceb1489f2d7d_0_11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41a0ceb1489f2d7d_0_11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41a0ceb1489f2d7d_0_9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41a0ceb1489f2d7d_0_9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41a0ceb1489f2d7d_0_9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41a0ceb1489f2d7d_0_9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41a0ceb1489f2d7d_0_10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41a0ceb1489f2d7d_0_10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41a0ceb1489f2d7d_0_9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41a0ceb1489f2d7d_0_9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35e7d2f73820c19f_0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35e7d2f73820c19f_0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184e182585d994ab_0_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184e182585d994ab_0_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84e182585d994ab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184e182585d994ab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184e182585d994ab_0_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184e182585d994ab_0_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16d5f51e51dca850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16d5f51e51dca850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6d5f51e51dca850_0_1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16d5f51e51dca850_0_1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4bc6d91772ff950d_1_5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h4bc6d91772ff950d_1_5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16d5f51e51dca850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16d5f51e51dca850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2662848390713266_1_49"/>
          <p:cNvSpPr txBox="1"/>
          <p:nvPr>
            <p:ph type="title"/>
          </p:nvPr>
        </p:nvSpPr>
        <p:spPr>
          <a:xfrm>
            <a:off x="272299" y="276134"/>
            <a:ext cx="5098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h2662848390713266_1_49"/>
          <p:cNvSpPr txBox="1"/>
          <p:nvPr>
            <p:ph idx="1" type="body"/>
          </p:nvPr>
        </p:nvSpPr>
        <p:spPr>
          <a:xfrm>
            <a:off x="470436" y="897285"/>
            <a:ext cx="38049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h2662848390713266_1_4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h2662848390713266_1_4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h2662848390713266_1_49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h2662848390713266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2662848390713266_1_62"/>
          <p:cNvSpPr txBox="1"/>
          <p:nvPr>
            <p:ph type="title"/>
          </p:nvPr>
        </p:nvSpPr>
        <p:spPr>
          <a:xfrm>
            <a:off x="272299" y="276134"/>
            <a:ext cx="5098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h2662848390713266_1_6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h2662848390713266_1_6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h2662848390713266_1_62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h2662848390713266_1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h2662848390713266_1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h2662848390713266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h2662848390713266_1_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" name="Google Shape;28;h2662848390713266_1_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h2662848390713266_1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2662848390713266_1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h2662848390713266_1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2662848390713266_1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h2662848390713266_1_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h2662848390713266_1_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h2662848390713266_1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h2662848390713266_1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h2662848390713266_1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2662848390713266_1_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h2662848390713266_1_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h2662848390713266_1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h2662848390713266_1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h2662848390713266_1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2662848390713266_1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2662848390713266_1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h2662848390713266_1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h2662848390713266_1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h2662848390713266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662848390713266_1_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h2662848390713266_1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662848390713266_1_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h2662848390713266_1_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h2662848390713266_1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662848390713266_1_55"/>
          <p:cNvSpPr txBox="1"/>
          <p:nvPr>
            <p:ph type="title"/>
          </p:nvPr>
        </p:nvSpPr>
        <p:spPr>
          <a:xfrm>
            <a:off x="272299" y="276134"/>
            <a:ext cx="5098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h2662848390713266_1_55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h2662848390713266_1_55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h2662848390713266_1_5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h2662848390713266_1_5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h2662848390713266_1_55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662848390713266_1_67"/>
          <p:cNvSpPr txBox="1"/>
          <p:nvPr>
            <p:ph type="ctrTitle"/>
          </p:nvPr>
        </p:nvSpPr>
        <p:spPr>
          <a:xfrm>
            <a:off x="264924" y="276134"/>
            <a:ext cx="3387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AE7B5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h2662848390713266_1_67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h2662848390713266_1_6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h2662848390713266_1_6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h2662848390713266_1_67"/>
          <p:cNvSpPr txBox="1"/>
          <p:nvPr>
            <p:ph idx="12" type="sldNum"/>
          </p:nvPr>
        </p:nvSpPr>
        <p:spPr>
          <a:xfrm>
            <a:off x="8663251" y="4645086"/>
            <a:ext cx="24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13664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13664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2662848390713266_1_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pc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pc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h2662848390713266_1_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pc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h2662848390713266_1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sedzhin@hse.r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hyperlink" Target="https://www.evidentlyai.com/ranking-metrics/ndcg-metric#pros-and-con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hyperlink" Target="https://www.tensorflow.org/js" TargetMode="External"/><Relationship Id="rId5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dryjins/RecSys-LLMs/tree/main/week4" TargetMode="External"/><Relationship Id="rId4" Type="http://schemas.openxmlformats.org/officeDocument/2006/relationships/hyperlink" Target="http://archive.ics.uci.edu/dataset/352/online+retail" TargetMode="External"/><Relationship Id="rId5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dryjins/RecSys-LLMs/tree/main/week5" TargetMode="External"/><Relationship Id="rId4" Type="http://schemas.openxmlformats.org/officeDocument/2006/relationships/hyperlink" Target="https://github.com/dryjins/RecSys-LLMs/tree/main/week5" TargetMode="External"/><Relationship Id="rId5" Type="http://schemas.openxmlformats.org/officeDocument/2006/relationships/hyperlink" Target="https://dryjins.github.io/RecSys-LLMs/week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153D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"/>
          <p:cNvGrpSpPr/>
          <p:nvPr/>
        </p:nvGrpSpPr>
        <p:grpSpPr>
          <a:xfrm>
            <a:off x="0" y="0"/>
            <a:ext cx="9144557" cy="5143677"/>
            <a:chOff x="0" y="0"/>
            <a:chExt cx="9144557" cy="5143677"/>
          </a:xfrm>
        </p:grpSpPr>
        <p:sp>
          <p:nvSpPr>
            <p:cNvPr id="80" name="Google Shape;80;p1"/>
            <p:cNvSpPr/>
            <p:nvPr/>
          </p:nvSpPr>
          <p:spPr>
            <a:xfrm>
              <a:off x="30" y="2824494"/>
              <a:ext cx="7370445" cy="2319020"/>
            </a:xfrm>
            <a:custGeom>
              <a:rect b="b" l="l" r="r" t="t"/>
              <a:pathLst>
                <a:path extrusionOk="0" h="2319020" w="7370445">
                  <a:moveTo>
                    <a:pt x="7370379" y="2318995"/>
                  </a:moveTo>
                  <a:lnTo>
                    <a:pt x="0" y="2318995"/>
                  </a:lnTo>
                  <a:lnTo>
                    <a:pt x="0" y="0"/>
                  </a:lnTo>
                  <a:lnTo>
                    <a:pt x="7370379" y="2318995"/>
                  </a:ln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3582592" y="1550696"/>
              <a:ext cx="5561965" cy="3592829"/>
            </a:xfrm>
            <a:custGeom>
              <a:rect b="b" l="l" r="r" t="t"/>
              <a:pathLst>
                <a:path extrusionOk="0" h="3592829" w="5561965">
                  <a:moveTo>
                    <a:pt x="5561388" y="3592792"/>
                  </a:moveTo>
                  <a:lnTo>
                    <a:pt x="0" y="3592792"/>
                  </a:lnTo>
                  <a:lnTo>
                    <a:pt x="5561388" y="0"/>
                  </a:lnTo>
                  <a:lnTo>
                    <a:pt x="5561388" y="3592792"/>
                  </a:lnTo>
                  <a:close/>
                </a:path>
              </a:pathLst>
            </a:custGeom>
            <a:solidFill>
              <a:srgbClr val="C3A1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058889" y="0"/>
              <a:ext cx="4085590" cy="2052955"/>
            </a:xfrm>
            <a:custGeom>
              <a:rect b="b" l="l" r="r" t="t"/>
              <a:pathLst>
                <a:path extrusionOk="0" h="2052955" w="4085590">
                  <a:moveTo>
                    <a:pt x="4085091" y="2052595"/>
                  </a:moveTo>
                  <a:lnTo>
                    <a:pt x="0" y="0"/>
                  </a:lnTo>
                  <a:lnTo>
                    <a:pt x="4085091" y="0"/>
                  </a:lnTo>
                  <a:lnTo>
                    <a:pt x="4085091" y="2052595"/>
                  </a:lnTo>
                  <a:close/>
                </a:path>
              </a:pathLst>
            </a:custGeom>
            <a:solidFill>
              <a:srgbClr val="233A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" name="Google Shape;83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"/>
            <p:cNvSpPr/>
            <p:nvPr/>
          </p:nvSpPr>
          <p:spPr>
            <a:xfrm>
              <a:off x="203263" y="596"/>
              <a:ext cx="8737600" cy="4937125"/>
            </a:xfrm>
            <a:custGeom>
              <a:rect b="b" l="l" r="r" t="t"/>
              <a:pathLst>
                <a:path extrusionOk="0" h="4937125" w="8737600">
                  <a:moveTo>
                    <a:pt x="8737486" y="205663"/>
                  </a:moveTo>
                  <a:lnTo>
                    <a:pt x="1987219" y="205663"/>
                  </a:lnTo>
                  <a:lnTo>
                    <a:pt x="2302294" y="0"/>
                  </a:lnTo>
                  <a:lnTo>
                    <a:pt x="2160587" y="0"/>
                  </a:lnTo>
                  <a:lnTo>
                    <a:pt x="1845513" y="205663"/>
                  </a:lnTo>
                  <a:lnTo>
                    <a:pt x="1732788" y="205663"/>
                  </a:lnTo>
                  <a:lnTo>
                    <a:pt x="2047862" y="0"/>
                  </a:lnTo>
                  <a:lnTo>
                    <a:pt x="1906155" y="0"/>
                  </a:lnTo>
                  <a:lnTo>
                    <a:pt x="1591081" y="205663"/>
                  </a:lnTo>
                  <a:lnTo>
                    <a:pt x="1478356" y="205663"/>
                  </a:lnTo>
                  <a:lnTo>
                    <a:pt x="1793430" y="0"/>
                  </a:lnTo>
                  <a:lnTo>
                    <a:pt x="1651723" y="0"/>
                  </a:lnTo>
                  <a:lnTo>
                    <a:pt x="1336649" y="205663"/>
                  </a:lnTo>
                  <a:lnTo>
                    <a:pt x="0" y="205663"/>
                  </a:lnTo>
                  <a:lnTo>
                    <a:pt x="0" y="4936655"/>
                  </a:lnTo>
                  <a:lnTo>
                    <a:pt x="8737486" y="4936655"/>
                  </a:lnTo>
                  <a:lnTo>
                    <a:pt x="8737486" y="2056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905383" y="596"/>
              <a:ext cx="2250440" cy="1044575"/>
            </a:xfrm>
            <a:custGeom>
              <a:rect b="b" l="l" r="r" t="t"/>
              <a:pathLst>
                <a:path extrusionOk="0" h="1044575" w="2250440">
                  <a:moveTo>
                    <a:pt x="1741500" y="0"/>
                  </a:moveTo>
                  <a:lnTo>
                    <a:pt x="1599806" y="0"/>
                  </a:lnTo>
                  <a:lnTo>
                    <a:pt x="0" y="1044295"/>
                  </a:lnTo>
                  <a:lnTo>
                    <a:pt x="141706" y="1044295"/>
                  </a:lnTo>
                  <a:lnTo>
                    <a:pt x="1741500" y="0"/>
                  </a:lnTo>
                  <a:close/>
                </a:path>
                <a:path extrusionOk="0" h="1044575" w="2250440">
                  <a:moveTo>
                    <a:pt x="1995932" y="0"/>
                  </a:moveTo>
                  <a:lnTo>
                    <a:pt x="1854225" y="0"/>
                  </a:lnTo>
                  <a:lnTo>
                    <a:pt x="254431" y="1044295"/>
                  </a:lnTo>
                  <a:lnTo>
                    <a:pt x="396138" y="1044295"/>
                  </a:lnTo>
                  <a:lnTo>
                    <a:pt x="1995932" y="0"/>
                  </a:lnTo>
                  <a:close/>
                </a:path>
                <a:path extrusionOk="0" h="1044575" w="2250440">
                  <a:moveTo>
                    <a:pt x="2250351" y="0"/>
                  </a:moveTo>
                  <a:lnTo>
                    <a:pt x="2108657" y="0"/>
                  </a:lnTo>
                  <a:lnTo>
                    <a:pt x="508863" y="1044295"/>
                  </a:lnTo>
                  <a:lnTo>
                    <a:pt x="650570" y="1044295"/>
                  </a:lnTo>
                  <a:lnTo>
                    <a:pt x="2250351" y="0"/>
                  </a:lnTo>
                  <a:close/>
                </a:path>
              </a:pathLst>
            </a:custGeom>
            <a:solidFill>
              <a:srgbClr val="153D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7057453" y="5092"/>
              <a:ext cx="1851660" cy="752475"/>
            </a:xfrm>
            <a:custGeom>
              <a:rect b="b" l="l" r="r" t="t"/>
              <a:pathLst>
                <a:path extrusionOk="0" h="752475" w="1851659">
                  <a:moveTo>
                    <a:pt x="1249222" y="0"/>
                  </a:moveTo>
                  <a:lnTo>
                    <a:pt x="1188504" y="0"/>
                  </a:lnTo>
                  <a:lnTo>
                    <a:pt x="0" y="752106"/>
                  </a:lnTo>
                  <a:lnTo>
                    <a:pt x="60731" y="752106"/>
                  </a:lnTo>
                  <a:lnTo>
                    <a:pt x="1249222" y="0"/>
                  </a:lnTo>
                  <a:close/>
                </a:path>
                <a:path extrusionOk="0" h="752475" w="1851659">
                  <a:moveTo>
                    <a:pt x="1550250" y="0"/>
                  </a:moveTo>
                  <a:lnTo>
                    <a:pt x="1489519" y="0"/>
                  </a:lnTo>
                  <a:lnTo>
                    <a:pt x="301028" y="752106"/>
                  </a:lnTo>
                  <a:lnTo>
                    <a:pt x="361746" y="752106"/>
                  </a:lnTo>
                  <a:lnTo>
                    <a:pt x="1550250" y="0"/>
                  </a:lnTo>
                  <a:close/>
                </a:path>
                <a:path extrusionOk="0" h="752475" w="1851659">
                  <a:moveTo>
                    <a:pt x="1851266" y="0"/>
                  </a:moveTo>
                  <a:lnTo>
                    <a:pt x="1790547" y="0"/>
                  </a:lnTo>
                  <a:lnTo>
                    <a:pt x="602030" y="752106"/>
                  </a:lnTo>
                  <a:lnTo>
                    <a:pt x="662774" y="752106"/>
                  </a:lnTo>
                  <a:lnTo>
                    <a:pt x="1851266" y="0"/>
                  </a:lnTo>
                  <a:close/>
                </a:path>
              </a:pathLst>
            </a:custGeom>
            <a:solidFill>
              <a:srgbClr val="233A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6553010" y="4217847"/>
              <a:ext cx="2389505" cy="925830"/>
            </a:xfrm>
            <a:custGeom>
              <a:rect b="b" l="l" r="r" t="t"/>
              <a:pathLst>
                <a:path extrusionOk="0" h="925829" w="2389504">
                  <a:moveTo>
                    <a:pt x="1612138" y="0"/>
                  </a:moveTo>
                  <a:lnTo>
                    <a:pt x="1462887" y="0"/>
                  </a:lnTo>
                  <a:lnTo>
                    <a:pt x="0" y="925741"/>
                  </a:lnTo>
                  <a:lnTo>
                    <a:pt x="149250" y="925741"/>
                  </a:lnTo>
                  <a:lnTo>
                    <a:pt x="1612138" y="0"/>
                  </a:lnTo>
                  <a:close/>
                </a:path>
                <a:path extrusionOk="0" h="925829" w="2389504">
                  <a:moveTo>
                    <a:pt x="2000592" y="0"/>
                  </a:moveTo>
                  <a:lnTo>
                    <a:pt x="1851342" y="0"/>
                  </a:lnTo>
                  <a:lnTo>
                    <a:pt x="388467" y="925741"/>
                  </a:lnTo>
                  <a:lnTo>
                    <a:pt x="537718" y="925741"/>
                  </a:lnTo>
                  <a:lnTo>
                    <a:pt x="2000592" y="0"/>
                  </a:lnTo>
                  <a:close/>
                </a:path>
                <a:path extrusionOk="0" h="925829" w="2389504">
                  <a:moveTo>
                    <a:pt x="2389060" y="0"/>
                  </a:moveTo>
                  <a:lnTo>
                    <a:pt x="2239822" y="0"/>
                  </a:lnTo>
                  <a:lnTo>
                    <a:pt x="776922" y="925741"/>
                  </a:lnTo>
                  <a:lnTo>
                    <a:pt x="926172" y="925741"/>
                  </a:lnTo>
                  <a:lnTo>
                    <a:pt x="2389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199136" y="4055643"/>
              <a:ext cx="2795905" cy="1083310"/>
            </a:xfrm>
            <a:custGeom>
              <a:rect b="b" l="l" r="r" t="t"/>
              <a:pathLst>
                <a:path extrusionOk="0" h="1083310" w="2795905">
                  <a:moveTo>
                    <a:pt x="1886343" y="0"/>
                  </a:moveTo>
                  <a:lnTo>
                    <a:pt x="1711883" y="0"/>
                  </a:lnTo>
                  <a:lnTo>
                    <a:pt x="0" y="1083297"/>
                  </a:lnTo>
                  <a:lnTo>
                    <a:pt x="174459" y="1083297"/>
                  </a:lnTo>
                  <a:lnTo>
                    <a:pt x="1886343" y="0"/>
                  </a:lnTo>
                  <a:close/>
                </a:path>
                <a:path extrusionOk="0" h="1083310" w="2795905">
                  <a:moveTo>
                    <a:pt x="2340876" y="0"/>
                  </a:moveTo>
                  <a:lnTo>
                    <a:pt x="2166429" y="0"/>
                  </a:lnTo>
                  <a:lnTo>
                    <a:pt x="454545" y="1083297"/>
                  </a:lnTo>
                  <a:lnTo>
                    <a:pt x="628992" y="1083297"/>
                  </a:lnTo>
                  <a:lnTo>
                    <a:pt x="2340876" y="0"/>
                  </a:lnTo>
                  <a:close/>
                </a:path>
                <a:path extrusionOk="0" h="1083310" w="2795905">
                  <a:moveTo>
                    <a:pt x="2795422" y="0"/>
                  </a:moveTo>
                  <a:lnTo>
                    <a:pt x="2620949" y="0"/>
                  </a:lnTo>
                  <a:lnTo>
                    <a:pt x="909078" y="1083297"/>
                  </a:lnTo>
                  <a:lnTo>
                    <a:pt x="1083525" y="1083297"/>
                  </a:lnTo>
                  <a:lnTo>
                    <a:pt x="2795422" y="0"/>
                  </a:lnTo>
                  <a:close/>
                </a:path>
              </a:pathLst>
            </a:custGeom>
            <a:solidFill>
              <a:srgbClr val="0079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"/>
          <p:cNvSpPr txBox="1"/>
          <p:nvPr>
            <p:ph type="title"/>
          </p:nvPr>
        </p:nvSpPr>
        <p:spPr>
          <a:xfrm>
            <a:off x="2582389" y="1814083"/>
            <a:ext cx="4820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800"/>
              <a:t>Matrix Factorization </a:t>
            </a:r>
            <a:endParaRPr sz="38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800"/>
              <a:t>&amp; Two Tower</a:t>
            </a:r>
            <a:endParaRPr sz="3800"/>
          </a:p>
        </p:txBody>
      </p:sp>
      <p:sp>
        <p:nvSpPr>
          <p:cNvPr id="90" name="Google Shape;90;p1"/>
          <p:cNvSpPr txBox="1"/>
          <p:nvPr/>
        </p:nvSpPr>
        <p:spPr>
          <a:xfrm>
            <a:off x="3930480" y="3443749"/>
            <a:ext cx="121793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635" lvl="0" marL="12700" marR="508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AE7B50"/>
                </a:solidFill>
                <a:latin typeface="Calibri"/>
                <a:ea typeface="Calibri"/>
                <a:cs typeface="Calibri"/>
                <a:sym typeface="Calibri"/>
              </a:rPr>
              <a:t>Dr Seungmin Jin </a:t>
            </a:r>
            <a:r>
              <a:rPr b="0" i="0" lang="en-US" spc="0" sz="1400" u="sng" cap="none" strike="noStrike">
                <a:solidFill>
                  <a:srgbClr val="3D4493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sedzhin@hse.ru</a:t>
            </a:r>
            <a:endParaRPr b="0" i="0" spc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AE7B50"/>
                </a:solidFill>
                <a:latin typeface="Calibri"/>
                <a:ea typeface="Calibri"/>
                <a:cs typeface="Calibri"/>
                <a:sym typeface="Calibri"/>
              </a:rPr>
              <a:t>HSE</a:t>
            </a:r>
            <a:endParaRPr b="0" i="0" spc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755552" y="127200"/>
            <a:ext cx="6574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Course Objectives</a:t>
            </a:r>
            <a:endParaRPr/>
          </a:p>
        </p:txBody>
      </p:sp>
      <p:sp>
        <p:nvSpPr>
          <p:cNvPr id="96" name="Google Shape;96;p3"/>
          <p:cNvSpPr txBox="1"/>
          <p:nvPr>
            <p:ph idx="12" type="sldNum"/>
          </p:nvPr>
        </p:nvSpPr>
        <p:spPr>
          <a:xfrm>
            <a:off x="8663251" y="4645086"/>
            <a:ext cx="2412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1366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929600" y="1295900"/>
            <a:ext cx="72534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Explain why sparse ratings can make similarity-based recommendations unreliable.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Understand how matrix factorization represents users and items as embeddings.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Calculate dot products to score user–item matches.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Distinguish recommendation-oriented matrix factorization from classical SVD.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Explain how two-tower models generate embeddings for scalable candidate retrieval.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h41a0ceb1489f2d7d_0_98"/>
          <p:cNvPicPr preferRelativeResize="0"/>
          <p:nvPr/>
        </p:nvPicPr>
        <p:blipFill rotWithShape="1">
          <a:blip r:embed="rId4">
            <a:alphaModFix/>
          </a:blip>
          <a:srcRect b="0" l="4626" r="2859" t="0"/>
          <a:stretch/>
        </p:blipFill>
        <p:spPr>
          <a:xfrm>
            <a:off x="7055400" y="216324"/>
            <a:ext cx="2011800" cy="16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h41a0ceb1489f2d7d_0_98"/>
          <p:cNvPicPr preferRelativeResize="0"/>
          <p:nvPr/>
        </p:nvPicPr>
        <p:blipFill rotWithShape="1">
          <a:blip r:embed="rId5">
            <a:alphaModFix/>
          </a:blip>
          <a:srcRect b="0" l="50372" r="0" t="0"/>
          <a:stretch/>
        </p:blipFill>
        <p:spPr>
          <a:xfrm>
            <a:off x="7385600" y="2825175"/>
            <a:ext cx="1540950" cy="22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h41a0ceb1489f2d7d_0_98"/>
          <p:cNvSpPr/>
          <p:nvPr/>
        </p:nvSpPr>
        <p:spPr>
          <a:xfrm>
            <a:off x="8372800" y="1916625"/>
            <a:ext cx="357000" cy="908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3A1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h35e7d2f73820c19f_0_15" title="투 타워 추천 시스템 후보 검색 인포그래픽.png"/>
          <p:cNvPicPr preferRelativeResize="0"/>
          <p:nvPr/>
        </p:nvPicPr>
        <p:blipFill rotWithShape="1">
          <a:blip r:embed="rId3">
            <a:alphaModFix/>
          </a:blip>
          <a:srcRect b="3710" l="0" r="0" t="9205"/>
          <a:stretch/>
        </p:blipFill>
        <p:spPr>
          <a:xfrm>
            <a:off x="890175" y="335725"/>
            <a:ext cx="7312950" cy="47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h35e7d2f73820c19f_0_15"/>
          <p:cNvSpPr txBox="1"/>
          <p:nvPr>
            <p:ph type="title"/>
          </p:nvPr>
        </p:nvSpPr>
        <p:spPr>
          <a:xfrm>
            <a:off x="32448" y="9"/>
            <a:ext cx="5098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Roboto"/>
                <a:ea typeface="Roboto"/>
                <a:cs typeface="Roboto"/>
                <a:sym typeface="Roboto"/>
              </a:rPr>
              <a:t>Retrieve Candidates at Scale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h184e182585d994ab_0_10"/>
          <p:cNvPicPr preferRelativeResize="0"/>
          <p:nvPr/>
        </p:nvPicPr>
        <p:blipFill rotWithShape="1">
          <a:blip r:embed="rId3">
            <a:alphaModFix/>
          </a:blip>
          <a:srcRect b="4979" l="1468" r="0" t="0"/>
          <a:stretch/>
        </p:blipFill>
        <p:spPr>
          <a:xfrm>
            <a:off x="39775" y="104475"/>
            <a:ext cx="9064449" cy="476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h184e182585d994a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17" y="59999"/>
            <a:ext cx="8829126" cy="502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h184e182585d994ab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66" y="77913"/>
            <a:ext cx="8552102" cy="49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h184e182585d994ab_0_5"/>
          <p:cNvSpPr txBox="1"/>
          <p:nvPr/>
        </p:nvSpPr>
        <p:spPr>
          <a:xfrm>
            <a:off x="5165225" y="3980420"/>
            <a:ext cx="411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rgbClr val="18803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Normalized Discounted Cumulative Gain (NDCG) explained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type="title"/>
          </p:nvPr>
        </p:nvSpPr>
        <p:spPr>
          <a:xfrm>
            <a:off x="3519500" y="2203875"/>
            <a:ext cx="2062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Discussion</a:t>
            </a:r>
            <a:endParaRPr/>
          </a:p>
        </p:txBody>
      </p:sp>
      <p:sp>
        <p:nvSpPr>
          <p:cNvPr id="164" name="Google Shape;164;p15"/>
          <p:cNvSpPr txBox="1"/>
          <p:nvPr>
            <p:ph idx="12" type="sldNum"/>
          </p:nvPr>
        </p:nvSpPr>
        <p:spPr>
          <a:xfrm>
            <a:off x="8663251" y="4645086"/>
            <a:ext cx="2412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1366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6d5f51e51dca850_0_12"/>
          <p:cNvSpPr txBox="1"/>
          <p:nvPr>
            <p:ph type="title"/>
          </p:nvPr>
        </p:nvSpPr>
        <p:spPr>
          <a:xfrm>
            <a:off x="272299" y="276134"/>
            <a:ext cx="50985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TensorFlow.js</a:t>
            </a:r>
            <a:endParaRPr/>
          </a:p>
        </p:txBody>
      </p:sp>
      <p:pic>
        <p:nvPicPr>
          <p:cNvPr id="170" name="Google Shape;170;h16d5f51e51dca850_0_12"/>
          <p:cNvPicPr preferRelativeResize="0"/>
          <p:nvPr/>
        </p:nvPicPr>
        <p:blipFill rotWithShape="1">
          <a:blip r:embed="rId3">
            <a:alphaModFix/>
          </a:blip>
          <a:srcRect b="0" l="0" r="6121" t="0"/>
          <a:stretch/>
        </p:blipFill>
        <p:spPr>
          <a:xfrm>
            <a:off x="272300" y="890225"/>
            <a:ext cx="8298276" cy="289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h16d5f51e51dca850_0_12"/>
          <p:cNvSpPr txBox="1"/>
          <p:nvPr/>
        </p:nvSpPr>
        <p:spPr>
          <a:xfrm>
            <a:off x="348100" y="3673150"/>
            <a:ext cx="526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>
                <a:solidFill>
                  <a:schemeClr val="hlink"/>
                </a:solidFill>
                <a:hlinkClick r:id="rId4"/>
              </a:rPr>
              <a:t>TensorFlow.js | Machine Learning for JavaScript Developers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72" name="Google Shape;172;h16d5f51e51dca850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014" y="3633800"/>
            <a:ext cx="2683911" cy="15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4bc6d91772ff950d_1_56"/>
          <p:cNvSpPr txBox="1"/>
          <p:nvPr>
            <p:ph type="title"/>
          </p:nvPr>
        </p:nvSpPr>
        <p:spPr>
          <a:xfrm>
            <a:off x="272299" y="276134"/>
            <a:ext cx="509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500">
                <a:latin typeface="Roboto"/>
                <a:ea typeface="Roboto"/>
                <a:cs typeface="Roboto"/>
                <a:sym typeface="Roboto"/>
              </a:rPr>
              <a:t>HW4.  Association Rules</a:t>
            </a:r>
            <a:endParaRPr b="1" sz="2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h4bc6d91772ff950d_1_56"/>
          <p:cNvSpPr txBox="1"/>
          <p:nvPr/>
        </p:nvSpPr>
        <p:spPr>
          <a:xfrm>
            <a:off x="172000" y="1499625"/>
            <a:ext cx="84975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Implementation Task</a:t>
            </a:r>
            <a:endParaRPr b="1" i="0" spc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Repository: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pc="0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dryjins/RecSys-LLMs/tree/main/week4</a:t>
            </a:r>
            <a:endParaRPr b="0" i="0" spc="0" sz="1000" u="none" cap="none" strike="noStrike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pc="0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UCI Online Retail dataset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Treat each </a:t>
            </a:r>
            <a:r>
              <a:rPr b="0" i="0" lang="en-US" spc="0" sz="10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InvoiceNo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 one transaction; use </a:t>
            </a:r>
            <a:r>
              <a:rPr b="0" i="0" lang="en-US" spc="0" sz="10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StockCode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identify items and </a:t>
            </a:r>
            <a:r>
              <a:rPr b="0" i="0" lang="en-US" spc="0" sz="1000" u="none" cap="none" strike="noStrike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label them.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Basket Construction: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Create an invoice–item basket matrix.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Association Rule Mining: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Use Apriori or FP-Growth to identify frequent itemsets and generate association rules.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Rule Evaluation: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Report support, confidence, and lift for the selected rules.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Rule Filtering: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State and justify your minimum support and confidence thresholds; retain rules with </a:t>
            </a: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lift &gt; 1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further analysis.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Business &amp; Algorithmic Analysis</a:t>
            </a:r>
            <a:endParaRPr b="1" i="0" spc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(Mandatory) Useful vs. Misleading Rules: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Present one rule worth investigating and one rule to reject. Justify both using transaction counts, support, confidence, and lift.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(Below Optional)</a:t>
            </a:r>
            <a:endParaRPr b="1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Rule Direction: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Compare </a:t>
            </a: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→ B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→ A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Explain why their confidence values can differ.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Threshold Trade-off: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Explain how changing minimum support or confidence affects the number and usefulness of discovered rules.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Validation Before Action: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Check whether a selected rule remains stable in a later time period. Propose a controlled cross-sell, bundle, or product-placement experiment.</a:t>
            </a:r>
            <a:endParaRPr b="0" i="0" spc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Association ≠ Causation:</a:t>
            </a:r>
            <a:r>
              <a:rPr b="0" i="0" lang="en-US" spc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Explain why high lift alone does not prove that an intervention will increase sales.</a:t>
            </a:r>
            <a:endParaRPr b="1" i="0" spc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h4bc6d91772ff950d_1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3475" y="0"/>
            <a:ext cx="4640526" cy="20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16d5f51e51dca850_0_1"/>
          <p:cNvSpPr txBox="1"/>
          <p:nvPr>
            <p:ph type="title"/>
          </p:nvPr>
        </p:nvSpPr>
        <p:spPr>
          <a:xfrm>
            <a:off x="142776" y="77900"/>
            <a:ext cx="79977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Roboto"/>
                <a:ea typeface="Roboto"/>
                <a:cs typeface="Roboto"/>
                <a:sym typeface="Roboto"/>
              </a:rPr>
              <a:t>HW5. From Ratings to Recommendations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h16d5f51e51dca850_0_1"/>
          <p:cNvSpPr txBox="1"/>
          <p:nvPr/>
        </p:nvSpPr>
        <p:spPr>
          <a:xfrm>
            <a:off x="0" y="504975"/>
            <a:ext cx="8959500" cy="4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1. Implementation Task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Repository: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dryjins/RecSys-LLMs/tree/main/week5</a:t>
            </a: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Dataset: MovieLens 100K; use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week5/u.data</a:t>
            </a:r>
            <a:r>
              <a:rPr lang="en-US" sz="1100">
                <a:solidFill>
                  <a:schemeClr val="dk1"/>
                </a:solidFill>
              </a:rPr>
              <a:t> for user–movie ratings and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week5/u.item</a:t>
            </a:r>
            <a:r>
              <a:rPr lang="en-US" sz="1100">
                <a:solidFill>
                  <a:schemeClr val="dk1"/>
                </a:solidFill>
              </a:rPr>
              <a:t> for movie titles and genre indicators.1453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Implementation: Build a JavaScript-based application to train and evaluate matrix factorization.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Preparation: Report users, movies, ratings, and matrix sparsity. Treat missing ratings as unobserved, not zeros.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Split: Sort each user’s ratings by timestamp; use 80% for training, 10% for validation, and 10% for testing. Report exclusions of users or movies absent from training.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Baseline: Predict ratings using the training-set mean.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Matrix Factorization: Learn 16-dimensional user and movie vectors; predict ratings using their dot product.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Training: Minimize squared error on observed training ratings. Select the checkpoint using validation RMSE; report baseline and MF test RMSE.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Recommendations: Produce Top-10 lists for two test users, showing movie titles and scores. Exclude movies rated in training or validation.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Evaluation: Treat test ratings ≥ 4.0 as relevant. Report average Recall@10 over users with eligible relevant test movies, using all training-set movies as candidates.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2. Business &amp; Algorithmic Analysis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Familiar Choices vs. New Discoveries:</a:t>
            </a:r>
            <a:r>
              <a:rPr lang="en-US" sz="1100">
                <a:solidFill>
                  <a:schemeClr val="dk1"/>
                </a:solidFill>
              </a:rPr>
              <a:t> Do your recommendations help users discover movies, or mainly repeat their existing preferences? Compare two users’ Top-10 lists with their past ratings. Use specific movies or genres to discuss familiar choices, new discoveries, and their value for a streaming platform.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86" name="Google Shape;186;h16d5f51e51dca850_0_1"/>
          <p:cNvSpPr txBox="1"/>
          <p:nvPr/>
        </p:nvSpPr>
        <p:spPr>
          <a:xfrm>
            <a:off x="4509250" y="504975"/>
            <a:ext cx="425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https://dryjins.github.io/RecSys-LLMs/week5/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2025-09-23T10:37:47.000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