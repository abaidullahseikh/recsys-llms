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9144000" cy="5143500"/>
  <p:embeddedFontLst>
    <p:embeddedFont>
      <p:font typeface="Roboto"/>
      <p:regular r:id="rId24"/>
      <p:bold r:id="rId25"/>
      <p:italic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g7pDWDPtFw3k2hHtWSejzzc48Z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Roboto-regular.fntdata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Robo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Mon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537b339125df9d2e_0_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537b339125df9d2e_0_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537b339125df9d2e_0_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h537b339125df9d2e_0_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537b339125df9d2e_0_8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h537b339125df9d2e_0_8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537b339125df9d2e_0_1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h537b339125df9d2e_0_1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537b339125df9d2e_0_1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h537b339125df9d2e_0_1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72c5f080e748f2a_0_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h72c5f080e748f2a_0_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6e2044d1e96c04bb_2_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h6e2044d1e96c04bb_2_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537b339125df9d2e_0_7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537b339125df9d2e_0_7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537b339125df9d2e_0_2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h537b339125df9d2e_0_2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537b339125df9d2e_0_2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h537b339125df9d2e_0_2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537b339125df9d2e_0_26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h537b339125df9d2e_0_26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537b339125df9d2e_0_29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h537b339125df9d2e_0_29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537b339125df9d2e_0_3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h537b339125df9d2e_0_3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537b339125df9d2e_0_69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h537b339125df9d2e_0_69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1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16d5f51e51dca850_0_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h16d5f51e51dca850_0_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537b339125df9d2e_0_5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h537b339125df9d2e_0_5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h2662848390713266_1_49"/>
          <p:cNvSpPr txBox="1"/>
          <p:nvPr>
            <p:ph type="title"/>
          </p:nvPr>
        </p:nvSpPr>
        <p:spPr>
          <a:xfrm>
            <a:off x="272299" y="276134"/>
            <a:ext cx="50985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000">
                <a:solidFill>
                  <a:srgbClr val="AE7B5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h2662848390713266_1_49"/>
          <p:cNvSpPr txBox="1"/>
          <p:nvPr>
            <p:ph idx="1" type="body"/>
          </p:nvPr>
        </p:nvSpPr>
        <p:spPr>
          <a:xfrm>
            <a:off x="470436" y="897285"/>
            <a:ext cx="3804900" cy="17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h2662848390713266_1_49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h2662848390713266_1_4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h2662848390713266_1_49"/>
          <p:cNvSpPr txBox="1"/>
          <p:nvPr>
            <p:ph idx="12" type="sldNum"/>
          </p:nvPr>
        </p:nvSpPr>
        <p:spPr>
          <a:xfrm>
            <a:off x="8663251" y="4645086"/>
            <a:ext cx="241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13664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h2662848390713266_1_62"/>
          <p:cNvSpPr txBox="1"/>
          <p:nvPr>
            <p:ph type="title"/>
          </p:nvPr>
        </p:nvSpPr>
        <p:spPr>
          <a:xfrm>
            <a:off x="272299" y="276134"/>
            <a:ext cx="50985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000">
                <a:solidFill>
                  <a:srgbClr val="AE7B5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h2662848390713266_1_62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h2662848390713266_1_6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h2662848390713266_1_62"/>
          <p:cNvSpPr txBox="1"/>
          <p:nvPr>
            <p:ph idx="12" type="sldNum"/>
          </p:nvPr>
        </p:nvSpPr>
        <p:spPr>
          <a:xfrm>
            <a:off x="8663251" y="4645086"/>
            <a:ext cx="241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13664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h2662848390713266_1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h2662848390713266_1_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h2662848390713266_1_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h2662848390713266_1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h2662848390713266_1_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8" name="Google Shape;28;h2662848390713266_1_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9" name="Google Shape;29;h2662848390713266_1_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h2662848390713266_1_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2" name="Google Shape;32;h2662848390713266_1_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h2662848390713266_1_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h2662848390713266_1_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h2662848390713266_1_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h2662848390713266_1_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h2662848390713266_1_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h2662848390713266_1_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h2662848390713266_1_2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h2662848390713266_1_2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h2662848390713266_1_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h2662848390713266_1_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h2662848390713266_1_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h2662848390713266_1_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h2662848390713266_1_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h2662848390713266_1_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h2662848390713266_1_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h2662848390713266_1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h2662848390713266_1_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6" name="Google Shape;56;h2662848390713266_1_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2662848390713266_1_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9" name="Google Shape;59;h2662848390713266_1_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h2662848390713266_1_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2662848390713266_1_55"/>
          <p:cNvSpPr txBox="1"/>
          <p:nvPr>
            <p:ph type="title"/>
          </p:nvPr>
        </p:nvSpPr>
        <p:spPr>
          <a:xfrm>
            <a:off x="272299" y="276134"/>
            <a:ext cx="50985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000">
                <a:solidFill>
                  <a:srgbClr val="AE7B5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h2662848390713266_1_55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h2662848390713266_1_55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h2662848390713266_1_5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h2662848390713266_1_5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h2662848390713266_1_55"/>
          <p:cNvSpPr txBox="1"/>
          <p:nvPr>
            <p:ph idx="12" type="sldNum"/>
          </p:nvPr>
        </p:nvSpPr>
        <p:spPr>
          <a:xfrm>
            <a:off x="8663251" y="4645086"/>
            <a:ext cx="241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13664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2662848390713266_1_67"/>
          <p:cNvSpPr txBox="1"/>
          <p:nvPr>
            <p:ph type="ctrTitle"/>
          </p:nvPr>
        </p:nvSpPr>
        <p:spPr>
          <a:xfrm>
            <a:off x="264924" y="276134"/>
            <a:ext cx="33870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000">
                <a:solidFill>
                  <a:srgbClr val="AE7B5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h2662848390713266_1_67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h2662848390713266_1_67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h2662848390713266_1_6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h2662848390713266_1_67"/>
          <p:cNvSpPr txBox="1"/>
          <p:nvPr>
            <p:ph idx="12" type="sldNum"/>
          </p:nvPr>
        </p:nvSpPr>
        <p:spPr>
          <a:xfrm>
            <a:off x="8663251" y="4645086"/>
            <a:ext cx="241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13664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h2662848390713266_1_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h2662848390713266_1_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h2662848390713266_1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mailto:sedzhin@hse.ru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hyperlink" Target="https://arxiv.org/abs/1711.07601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ithub.com/dryjins/RecSys-LLMs/tree/main/week5" TargetMode="External"/><Relationship Id="rId4" Type="http://schemas.openxmlformats.org/officeDocument/2006/relationships/hyperlink" Target="https://github.com/dryjins/RecSys-LLMs/tree/main/week5" TargetMode="External"/><Relationship Id="rId5" Type="http://schemas.openxmlformats.org/officeDocument/2006/relationships/hyperlink" Target="https://dryjins.github.io/RecSys-LLMs/week5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81" y="5143489"/>
                </a:moveTo>
                <a:lnTo>
                  <a:pt x="0" y="51434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43489"/>
                </a:lnTo>
                <a:close/>
              </a:path>
            </a:pathLst>
          </a:custGeom>
          <a:solidFill>
            <a:srgbClr val="153D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" name="Google Shape;79;p1"/>
          <p:cNvGrpSpPr/>
          <p:nvPr/>
        </p:nvGrpSpPr>
        <p:grpSpPr>
          <a:xfrm>
            <a:off x="0" y="0"/>
            <a:ext cx="9144557" cy="5143677"/>
            <a:chOff x="0" y="0"/>
            <a:chExt cx="9144557" cy="5143677"/>
          </a:xfrm>
        </p:grpSpPr>
        <p:sp>
          <p:nvSpPr>
            <p:cNvPr id="80" name="Google Shape;80;p1"/>
            <p:cNvSpPr/>
            <p:nvPr/>
          </p:nvSpPr>
          <p:spPr>
            <a:xfrm>
              <a:off x="30" y="2824494"/>
              <a:ext cx="7370445" cy="2319020"/>
            </a:xfrm>
            <a:custGeom>
              <a:rect b="b" l="l" r="r" t="t"/>
              <a:pathLst>
                <a:path extrusionOk="0" h="2319020" w="7370445">
                  <a:moveTo>
                    <a:pt x="7370379" y="2318995"/>
                  </a:moveTo>
                  <a:lnTo>
                    <a:pt x="0" y="2318995"/>
                  </a:lnTo>
                  <a:lnTo>
                    <a:pt x="0" y="0"/>
                  </a:lnTo>
                  <a:lnTo>
                    <a:pt x="7370379" y="2318995"/>
                  </a:lnTo>
                  <a:close/>
                </a:path>
              </a:pathLst>
            </a:custGeom>
            <a:solidFill>
              <a:srgbClr val="00796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3582592" y="1550696"/>
              <a:ext cx="5561965" cy="3592829"/>
            </a:xfrm>
            <a:custGeom>
              <a:rect b="b" l="l" r="r" t="t"/>
              <a:pathLst>
                <a:path extrusionOk="0" h="3592829" w="5561965">
                  <a:moveTo>
                    <a:pt x="5561388" y="3592792"/>
                  </a:moveTo>
                  <a:lnTo>
                    <a:pt x="0" y="3592792"/>
                  </a:lnTo>
                  <a:lnTo>
                    <a:pt x="5561388" y="0"/>
                  </a:lnTo>
                  <a:lnTo>
                    <a:pt x="5561388" y="3592792"/>
                  </a:lnTo>
                  <a:close/>
                </a:path>
              </a:pathLst>
            </a:custGeom>
            <a:solidFill>
              <a:srgbClr val="C3A1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5058889" y="0"/>
              <a:ext cx="4085590" cy="2052955"/>
            </a:xfrm>
            <a:custGeom>
              <a:rect b="b" l="l" r="r" t="t"/>
              <a:pathLst>
                <a:path extrusionOk="0" h="2052955" w="4085590">
                  <a:moveTo>
                    <a:pt x="4085091" y="2052595"/>
                  </a:moveTo>
                  <a:lnTo>
                    <a:pt x="0" y="0"/>
                  </a:lnTo>
                  <a:lnTo>
                    <a:pt x="4085091" y="0"/>
                  </a:lnTo>
                  <a:lnTo>
                    <a:pt x="4085091" y="2052595"/>
                  </a:lnTo>
                  <a:close/>
                </a:path>
              </a:pathLst>
            </a:custGeom>
            <a:solidFill>
              <a:srgbClr val="233A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3" name="Google Shape;83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1"/>
            <p:cNvSpPr/>
            <p:nvPr/>
          </p:nvSpPr>
          <p:spPr>
            <a:xfrm>
              <a:off x="203263" y="596"/>
              <a:ext cx="8737600" cy="4937125"/>
            </a:xfrm>
            <a:custGeom>
              <a:rect b="b" l="l" r="r" t="t"/>
              <a:pathLst>
                <a:path extrusionOk="0" h="4937125" w="8737600">
                  <a:moveTo>
                    <a:pt x="8737486" y="205663"/>
                  </a:moveTo>
                  <a:lnTo>
                    <a:pt x="1987219" y="205663"/>
                  </a:lnTo>
                  <a:lnTo>
                    <a:pt x="2302294" y="0"/>
                  </a:lnTo>
                  <a:lnTo>
                    <a:pt x="2160587" y="0"/>
                  </a:lnTo>
                  <a:lnTo>
                    <a:pt x="1845513" y="205663"/>
                  </a:lnTo>
                  <a:lnTo>
                    <a:pt x="1732788" y="205663"/>
                  </a:lnTo>
                  <a:lnTo>
                    <a:pt x="2047862" y="0"/>
                  </a:lnTo>
                  <a:lnTo>
                    <a:pt x="1906155" y="0"/>
                  </a:lnTo>
                  <a:lnTo>
                    <a:pt x="1591081" y="205663"/>
                  </a:lnTo>
                  <a:lnTo>
                    <a:pt x="1478356" y="205663"/>
                  </a:lnTo>
                  <a:lnTo>
                    <a:pt x="1793430" y="0"/>
                  </a:lnTo>
                  <a:lnTo>
                    <a:pt x="1651723" y="0"/>
                  </a:lnTo>
                  <a:lnTo>
                    <a:pt x="1336649" y="205663"/>
                  </a:lnTo>
                  <a:lnTo>
                    <a:pt x="0" y="205663"/>
                  </a:lnTo>
                  <a:lnTo>
                    <a:pt x="0" y="4936655"/>
                  </a:lnTo>
                  <a:lnTo>
                    <a:pt x="8737486" y="4936655"/>
                  </a:lnTo>
                  <a:lnTo>
                    <a:pt x="8737486" y="2056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905383" y="596"/>
              <a:ext cx="2250440" cy="1044575"/>
            </a:xfrm>
            <a:custGeom>
              <a:rect b="b" l="l" r="r" t="t"/>
              <a:pathLst>
                <a:path extrusionOk="0" h="1044575" w="2250440">
                  <a:moveTo>
                    <a:pt x="1741500" y="0"/>
                  </a:moveTo>
                  <a:lnTo>
                    <a:pt x="1599806" y="0"/>
                  </a:lnTo>
                  <a:lnTo>
                    <a:pt x="0" y="1044295"/>
                  </a:lnTo>
                  <a:lnTo>
                    <a:pt x="141706" y="1044295"/>
                  </a:lnTo>
                  <a:lnTo>
                    <a:pt x="1741500" y="0"/>
                  </a:lnTo>
                  <a:close/>
                </a:path>
                <a:path extrusionOk="0" h="1044575" w="2250440">
                  <a:moveTo>
                    <a:pt x="1995932" y="0"/>
                  </a:moveTo>
                  <a:lnTo>
                    <a:pt x="1854225" y="0"/>
                  </a:lnTo>
                  <a:lnTo>
                    <a:pt x="254431" y="1044295"/>
                  </a:lnTo>
                  <a:lnTo>
                    <a:pt x="396138" y="1044295"/>
                  </a:lnTo>
                  <a:lnTo>
                    <a:pt x="1995932" y="0"/>
                  </a:lnTo>
                  <a:close/>
                </a:path>
                <a:path extrusionOk="0" h="1044575" w="2250440">
                  <a:moveTo>
                    <a:pt x="2250351" y="0"/>
                  </a:moveTo>
                  <a:lnTo>
                    <a:pt x="2108657" y="0"/>
                  </a:lnTo>
                  <a:lnTo>
                    <a:pt x="508863" y="1044295"/>
                  </a:lnTo>
                  <a:lnTo>
                    <a:pt x="650570" y="1044295"/>
                  </a:lnTo>
                  <a:lnTo>
                    <a:pt x="2250351" y="0"/>
                  </a:lnTo>
                  <a:close/>
                </a:path>
              </a:pathLst>
            </a:custGeom>
            <a:solidFill>
              <a:srgbClr val="153DF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7057453" y="5092"/>
              <a:ext cx="1851660" cy="752475"/>
            </a:xfrm>
            <a:custGeom>
              <a:rect b="b" l="l" r="r" t="t"/>
              <a:pathLst>
                <a:path extrusionOk="0" h="752475" w="1851659">
                  <a:moveTo>
                    <a:pt x="1249222" y="0"/>
                  </a:moveTo>
                  <a:lnTo>
                    <a:pt x="1188504" y="0"/>
                  </a:lnTo>
                  <a:lnTo>
                    <a:pt x="0" y="752106"/>
                  </a:lnTo>
                  <a:lnTo>
                    <a:pt x="60731" y="752106"/>
                  </a:lnTo>
                  <a:lnTo>
                    <a:pt x="1249222" y="0"/>
                  </a:lnTo>
                  <a:close/>
                </a:path>
                <a:path extrusionOk="0" h="752475" w="1851659">
                  <a:moveTo>
                    <a:pt x="1550250" y="0"/>
                  </a:moveTo>
                  <a:lnTo>
                    <a:pt x="1489519" y="0"/>
                  </a:lnTo>
                  <a:lnTo>
                    <a:pt x="301028" y="752106"/>
                  </a:lnTo>
                  <a:lnTo>
                    <a:pt x="361746" y="752106"/>
                  </a:lnTo>
                  <a:lnTo>
                    <a:pt x="1550250" y="0"/>
                  </a:lnTo>
                  <a:close/>
                </a:path>
                <a:path extrusionOk="0" h="752475" w="1851659">
                  <a:moveTo>
                    <a:pt x="1851266" y="0"/>
                  </a:moveTo>
                  <a:lnTo>
                    <a:pt x="1790547" y="0"/>
                  </a:lnTo>
                  <a:lnTo>
                    <a:pt x="602030" y="752106"/>
                  </a:lnTo>
                  <a:lnTo>
                    <a:pt x="662774" y="752106"/>
                  </a:lnTo>
                  <a:lnTo>
                    <a:pt x="1851266" y="0"/>
                  </a:lnTo>
                  <a:close/>
                </a:path>
              </a:pathLst>
            </a:custGeom>
            <a:solidFill>
              <a:srgbClr val="233A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6553010" y="4217847"/>
              <a:ext cx="2389505" cy="925830"/>
            </a:xfrm>
            <a:custGeom>
              <a:rect b="b" l="l" r="r" t="t"/>
              <a:pathLst>
                <a:path extrusionOk="0" h="925829" w="2389504">
                  <a:moveTo>
                    <a:pt x="1612138" y="0"/>
                  </a:moveTo>
                  <a:lnTo>
                    <a:pt x="1462887" y="0"/>
                  </a:lnTo>
                  <a:lnTo>
                    <a:pt x="0" y="925741"/>
                  </a:lnTo>
                  <a:lnTo>
                    <a:pt x="149250" y="925741"/>
                  </a:lnTo>
                  <a:lnTo>
                    <a:pt x="1612138" y="0"/>
                  </a:lnTo>
                  <a:close/>
                </a:path>
                <a:path extrusionOk="0" h="925829" w="2389504">
                  <a:moveTo>
                    <a:pt x="2000592" y="0"/>
                  </a:moveTo>
                  <a:lnTo>
                    <a:pt x="1851342" y="0"/>
                  </a:lnTo>
                  <a:lnTo>
                    <a:pt x="388467" y="925741"/>
                  </a:lnTo>
                  <a:lnTo>
                    <a:pt x="537718" y="925741"/>
                  </a:lnTo>
                  <a:lnTo>
                    <a:pt x="2000592" y="0"/>
                  </a:lnTo>
                  <a:close/>
                </a:path>
                <a:path extrusionOk="0" h="925829" w="2389504">
                  <a:moveTo>
                    <a:pt x="2389060" y="0"/>
                  </a:moveTo>
                  <a:lnTo>
                    <a:pt x="2239822" y="0"/>
                  </a:lnTo>
                  <a:lnTo>
                    <a:pt x="776922" y="925741"/>
                  </a:lnTo>
                  <a:lnTo>
                    <a:pt x="926172" y="925741"/>
                  </a:lnTo>
                  <a:lnTo>
                    <a:pt x="23890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199136" y="4055643"/>
              <a:ext cx="2795905" cy="1083310"/>
            </a:xfrm>
            <a:custGeom>
              <a:rect b="b" l="l" r="r" t="t"/>
              <a:pathLst>
                <a:path extrusionOk="0" h="1083310" w="2795905">
                  <a:moveTo>
                    <a:pt x="1886343" y="0"/>
                  </a:moveTo>
                  <a:lnTo>
                    <a:pt x="1711883" y="0"/>
                  </a:lnTo>
                  <a:lnTo>
                    <a:pt x="0" y="1083297"/>
                  </a:lnTo>
                  <a:lnTo>
                    <a:pt x="174459" y="1083297"/>
                  </a:lnTo>
                  <a:lnTo>
                    <a:pt x="1886343" y="0"/>
                  </a:lnTo>
                  <a:close/>
                </a:path>
                <a:path extrusionOk="0" h="1083310" w="2795905">
                  <a:moveTo>
                    <a:pt x="2340876" y="0"/>
                  </a:moveTo>
                  <a:lnTo>
                    <a:pt x="2166429" y="0"/>
                  </a:lnTo>
                  <a:lnTo>
                    <a:pt x="454545" y="1083297"/>
                  </a:lnTo>
                  <a:lnTo>
                    <a:pt x="628992" y="1083297"/>
                  </a:lnTo>
                  <a:lnTo>
                    <a:pt x="2340876" y="0"/>
                  </a:lnTo>
                  <a:close/>
                </a:path>
                <a:path extrusionOk="0" h="1083310" w="2795905">
                  <a:moveTo>
                    <a:pt x="2795422" y="0"/>
                  </a:moveTo>
                  <a:lnTo>
                    <a:pt x="2620949" y="0"/>
                  </a:lnTo>
                  <a:lnTo>
                    <a:pt x="909078" y="1083297"/>
                  </a:lnTo>
                  <a:lnTo>
                    <a:pt x="1083525" y="1083297"/>
                  </a:lnTo>
                  <a:lnTo>
                    <a:pt x="2795422" y="0"/>
                  </a:lnTo>
                  <a:close/>
                </a:path>
              </a:pathLst>
            </a:custGeom>
            <a:solidFill>
              <a:srgbClr val="00796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1"/>
          <p:cNvSpPr txBox="1"/>
          <p:nvPr>
            <p:ph type="title"/>
          </p:nvPr>
        </p:nvSpPr>
        <p:spPr>
          <a:xfrm>
            <a:off x="2582389" y="1814083"/>
            <a:ext cx="4820400" cy="11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800"/>
              <a:t>Graph-Based Recommendations </a:t>
            </a:r>
            <a:endParaRPr sz="3800"/>
          </a:p>
        </p:txBody>
      </p:sp>
      <p:sp>
        <p:nvSpPr>
          <p:cNvPr id="90" name="Google Shape;90;p1"/>
          <p:cNvSpPr txBox="1"/>
          <p:nvPr/>
        </p:nvSpPr>
        <p:spPr>
          <a:xfrm>
            <a:off x="3930480" y="3443749"/>
            <a:ext cx="1217930" cy="772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-635" lvl="0" marL="12700" marR="5080" rtl="0" algn="ctr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E7B50"/>
                </a:solidFill>
                <a:latin typeface="Calibri"/>
                <a:ea typeface="Calibri"/>
                <a:cs typeface="Calibri"/>
                <a:sym typeface="Calibri"/>
              </a:rPr>
              <a:t>Dr Seungmin Jin </a:t>
            </a:r>
            <a:r>
              <a:rPr b="0" i="0" lang="en-US" sz="1400" u="sng" cap="none" strike="noStrike">
                <a:solidFill>
                  <a:srgbClr val="3D4493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sedzhin@hse.ru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E7B50"/>
                </a:solidFill>
                <a:latin typeface="Calibri"/>
                <a:ea typeface="Calibri"/>
                <a:cs typeface="Calibri"/>
                <a:sym typeface="Calibri"/>
              </a:rPr>
              <a:t>HSE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755552" y="127200"/>
            <a:ext cx="65748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Course Objectives</a:t>
            </a:r>
            <a:endParaRPr/>
          </a:p>
        </p:txBody>
      </p:sp>
      <p:sp>
        <p:nvSpPr>
          <p:cNvPr id="96" name="Google Shape;96;p3"/>
          <p:cNvSpPr txBox="1"/>
          <p:nvPr>
            <p:ph idx="12" type="sldNum"/>
          </p:nvPr>
        </p:nvSpPr>
        <p:spPr>
          <a:xfrm>
            <a:off x="8663251" y="4645086"/>
            <a:ext cx="2412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1366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755550" y="1599575"/>
            <a:ext cx="7253400" cy="15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Understand graphs, random walks, and PageRank.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Personalize recommendations using restart distributions.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Build a PPR recommender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Compare PPR with MF and discuss their business value.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537b339125df9d2e_0_32"/>
          <p:cNvSpPr txBox="1"/>
          <p:nvPr/>
        </p:nvSpPr>
        <p:spPr>
          <a:xfrm>
            <a:off x="132893" y="3941475"/>
            <a:ext cx="290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 u="sng">
                <a:solidFill>
                  <a:srgbClr val="434343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[1711.07601] Pixie: A System for Recommending 3+ Billion Items to 200+ Million Users in Real-Time</a:t>
            </a:r>
            <a:endParaRPr b="1" sz="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 txBox="1"/>
          <p:nvPr>
            <p:ph type="title"/>
          </p:nvPr>
        </p:nvSpPr>
        <p:spPr>
          <a:xfrm>
            <a:off x="3519500" y="2203875"/>
            <a:ext cx="20625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Discussion</a:t>
            </a:r>
            <a:endParaRPr/>
          </a:p>
        </p:txBody>
      </p:sp>
      <p:sp>
        <p:nvSpPr>
          <p:cNvPr id="160" name="Google Shape;160;p15"/>
          <p:cNvSpPr txBox="1"/>
          <p:nvPr>
            <p:ph idx="12" type="sldNum"/>
          </p:nvPr>
        </p:nvSpPr>
        <p:spPr>
          <a:xfrm>
            <a:off x="8663251" y="4645086"/>
            <a:ext cx="2412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1366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16d5f51e51dca850_0_1"/>
          <p:cNvSpPr txBox="1"/>
          <p:nvPr>
            <p:ph type="title"/>
          </p:nvPr>
        </p:nvSpPr>
        <p:spPr>
          <a:xfrm>
            <a:off x="142776" y="77900"/>
            <a:ext cx="799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300">
                <a:latin typeface="Roboto"/>
                <a:ea typeface="Roboto"/>
                <a:cs typeface="Roboto"/>
                <a:sym typeface="Roboto"/>
              </a:rPr>
              <a:t>HW5. From Ratings to Recommendations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h16d5f51e51dca850_0_1"/>
          <p:cNvSpPr txBox="1"/>
          <p:nvPr/>
        </p:nvSpPr>
        <p:spPr>
          <a:xfrm>
            <a:off x="0" y="504975"/>
            <a:ext cx="8959500" cy="46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Implementation Task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Repository:</a:t>
            </a:r>
            <a:r>
              <a:rPr b="0" i="0" lang="en-US" sz="1100" u="none" cap="none" strike="noStrike">
                <a:solidFill>
                  <a:schemeClr val="dk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dryjins/RecSys-LLMs/tree/main/week5</a:t>
            </a:r>
            <a:endParaRPr b="0" i="0" sz="1100" u="sng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Dataset: MovieLens 100K; use </a:t>
            </a:r>
            <a:r>
              <a:rPr b="0" i="0" lang="en-US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week5/u.data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user–movie ratings and </a:t>
            </a:r>
            <a:r>
              <a:rPr b="0" i="0" lang="en-US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week5/u.item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movie titles and genre indicators.1453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Implementation: Build a JavaScript-based application to train and evaluate matrix factorization.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Preparation: Report users, movies, ratings, and matrix sparsity. Treat missing ratings as unobserved, not zeros.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Split: Sort each user’s ratings by timestamp; use 80% for training, 10% for validation, and 10% for testing. Report exclusions of users or movies absent from training.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Baseline: Predict ratings using the training-set mean.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Matrix Factorization: Learn 16-dimensional user and movie vectors; predict ratings using their dot product.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Training: Minimize squared error on observed training ratings. Select the checkpoint using validation RMSE; report baseline and MF test RMSE.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Recommendations: Produce Top-10 lists for two test users, showing movie titles and scores. Exclude movies rated in training or validation.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Evaluation: Treat test ratings ≥ 4.0 as relevant. Report average Recall@10 over users with eligible relevant test movies, using all training-set movies as candidates.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Business &amp; Algorithmic Analysis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Familiar Choices vs. New Discoveries: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your recommendations help users discover movies, or mainly repeat their existing preferences? Compare two users’ Top-10 lists with their past ratings. Use specific movies or genres to discuss familiar choices, new discoveries, and their value for a streaming platform.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h16d5f51e51dca850_0_1"/>
          <p:cNvSpPr txBox="1"/>
          <p:nvPr/>
        </p:nvSpPr>
        <p:spPr>
          <a:xfrm>
            <a:off x="4509250" y="504975"/>
            <a:ext cx="425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https://dryjins.github.io/RecSys-LLMs/week5/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537b339125df9d2e_0_53"/>
          <p:cNvSpPr txBox="1"/>
          <p:nvPr>
            <p:ph type="title"/>
          </p:nvPr>
        </p:nvSpPr>
        <p:spPr>
          <a:xfrm>
            <a:off x="0" y="0"/>
            <a:ext cx="90669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HW6.</a:t>
            </a:r>
            <a:r>
              <a:rPr lang="en-US" sz="2800"/>
              <a:t> Personalized PageRank Movie Recommendations </a:t>
            </a:r>
            <a:endParaRPr sz="2800"/>
          </a:p>
        </p:txBody>
      </p:sp>
      <p:sp>
        <p:nvSpPr>
          <p:cNvPr id="173" name="Google Shape;173;h537b339125df9d2e_0_53"/>
          <p:cNvSpPr txBox="1"/>
          <p:nvPr/>
        </p:nvSpPr>
        <p:spPr>
          <a:xfrm>
            <a:off x="72750" y="503400"/>
            <a:ext cx="8921400" cy="44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1. Implementation Task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Repository: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dryjins/RecSys-LLMs/tree/main/week6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Dataset: Reuse MovieLens 100K (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week5/u.data</a:t>
            </a:r>
            <a:r>
              <a:rPr lang="en-US" sz="1100">
                <a:solidFill>
                  <a:schemeClr val="dk1"/>
                </a:solidFill>
              </a:rPr>
              <a:t> and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week5/u.item</a:t>
            </a:r>
            <a:r>
              <a:rPr lang="en-US" sz="1100">
                <a:solidFill>
                  <a:schemeClr val="dk1"/>
                </a:solidFill>
              </a:rPr>
              <a:t>) and the previous per-user chronological 80%/10%/10% split.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Graph: Build a user–movie graph from training ratings ≥ 4.0. Treat missing ratings as unobserved.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Implementation: Compute global PageRank and user-seeded PPR with TensorFlow.js. Define α\alphaα as the link-following probability.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Verification: Check transition normalization, probability conservation, convergence, and zero-degree-node handling.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Evaluation: Select PPR’s α\alphaα using validation Recall@10. Compare popularity, global PageRank, PPR, and your previous MF on the same eligible test users and candidate movies.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Filtering: For validation, exclude movies rated in training. For testing, exclude movies rated in training or validation.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Recommendations: Produce test Top-10 lists for the same two users, showing movie titles, genres, and scores.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Controlled Comparison: Separately change one setting at a time—user A/B at α=0.85\alpha=0.85α=0.85, then user A at α=0.85\alpha=0.85α=0.85 versus 0.500.500.50. Use the validation-selected α\alphaα for the final PPR evaluation.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Reporting: Report test Recall@10, evaluation exclusions, and recommendation popularity based on positive training ratings. PPR scores are not predicted ratings or purchase probabilities.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2. Business &amp; Algorithmic Analysis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Should the streaming platform keep MF, replace it with PPR, or use the two methods in different recommendation sections? Choose one strategy and justify it using your Recall@10 results and specific movie examples from the same two users’ Top-10 lists.</a:t>
            </a:r>
            <a:endParaRPr b="1" sz="1500">
              <a:solidFill>
                <a:srgbClr val="3F3B3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2025-09-23T10:37:47.000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